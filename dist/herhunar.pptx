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12"/>
    <p:sldId id="276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9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389120" cy="4389120"/>
          </a:xfrm>
          <a:prstGeom prst="ellipse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566160"/>
            <a:ext cx="3474720" cy="3474720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2194560" cy="2194560"/>
          </a:xfrm>
          <a:prstGeom prst="ellipse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685800"/>
            <a:ext cx="1965960" cy="310896"/>
          </a:xfrm>
          <a:prstGeom prst="round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04088"/>
            <a:ext cx="183794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BBA STARTUP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65836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4600" b="1" i="0">
                <a:solidFill>
                  <a:srgbClr val="FFFFFF"/>
                </a:solidFill>
                <a:latin typeface="Aptos"/>
              </a:defRPr>
            </a:pPr>
            <a:r>
              <a:t>HerHunar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6583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AECA"/>
                </a:solidFill>
                <a:latin typeface="Aptos"/>
              </a:defRPr>
            </a:pPr>
            <a:r>
              <a:t>Empowering Women</a:t>
            </a:r>
          </a:p>
          <a:p>
            <a:pPr algn="l">
              <a:spcAft>
                <a:spcPts val="500"/>
              </a:spcAft>
              <a:defRPr sz="2700" b="1" i="0">
                <a:solidFill>
                  <a:srgbClr val="F4AECA"/>
                </a:solidFill>
                <a:latin typeface="Aptos"/>
              </a:defRPr>
            </a:pPr>
            <a:r>
              <a:t>Through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59436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E2D9FA"/>
                </a:solidFill>
                <a:latin typeface="Aptos"/>
              </a:defRPr>
            </a:pPr>
            <a:r>
              <a:t>A social-impact website concept connecting women’s skills with real opportunities.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PROJECT DECK  •  WEBSITE DESIGN  •  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806440"/>
            <a:ext cx="4389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1C1836"/>
                </a:solidFill>
                <a:latin typeface="Aptos"/>
              </a:defRPr>
            </a:pPr>
            <a:r>
              <a:t>Her Skills. Her Income. Her Independence.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The idea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simple digital bridge between women with skills and people looking for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02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91440" cy="21488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304495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Talented women may lack visibility, customer access, or a simple way to present their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91440" cy="214884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A free-to-start directory where women can list skills, showcase work, and receive enquiries.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91440" cy="21488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THE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4495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More visibility, new earning opportunities, and stronger local women-led businesses.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6F4CBF"/>
                </a:solidFill>
                <a:latin typeface="Aptos"/>
              </a:defRPr>
            </a:pPr>
            <a:r>
              <a:t>Core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590288"/>
            <a:ext cx="8778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300" b="1" i="0">
                <a:solidFill>
                  <a:srgbClr val="1C1836"/>
                </a:solidFill>
                <a:latin typeface="Aptos"/>
              </a:defRPr>
            </a:pPr>
            <a:r>
              <a:t>Make skills discoverable. Make opportunities easier to reach.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02 •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The problem HerHunar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The project starts with a common challenge: skill alone does not guarantee access to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03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91440" cy="12344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84248"/>
            <a:ext cx="47823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95728"/>
            <a:ext cx="478231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Work is shared only within a small personal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91440" cy="123444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84248"/>
            <a:ext cx="47823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Trust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395728"/>
            <a:ext cx="478231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New customers may not know who to contact or what to expect.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1663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91440" cy="1234440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630168"/>
            <a:ext cx="47823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Digital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041648"/>
            <a:ext cx="478231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Some service providers may not have a website or online portfolio.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1663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474720"/>
            <a:ext cx="91440" cy="12344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3630168"/>
            <a:ext cx="47823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Scattered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041648"/>
            <a:ext cx="478231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Customers search across social media, messages, and referrals.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Design principle: keep it simple, mobile-friendly, and easy to understand.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How HerHunar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discover → connect → grow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04  /  18</a:t>
            </a:r>
          </a:p>
        </p:txBody>
      </p:sp>
      <p:sp>
        <p:nvSpPr>
          <p:cNvPr id="6" name="Oval 5"/>
          <p:cNvSpPr/>
          <p:nvPr/>
        </p:nvSpPr>
        <p:spPr>
          <a:xfrm>
            <a:off x="1344168" y="1965960"/>
            <a:ext cx="658368" cy="658368"/>
          </a:xfrm>
          <a:prstGeom prst="ellipse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139696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057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Create a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10128"/>
            <a:ext cx="2240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Add skills, service area, sample work, and contact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2140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6F4CB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1965960"/>
            <a:ext cx="658368" cy="658368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139696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057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Get discovered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310128"/>
            <a:ext cx="2240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Customers browse categories and find relevant profiles.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12140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6F4CB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04888" y="1965960"/>
            <a:ext cx="658368" cy="658368"/>
          </a:xfrm>
          <a:prstGeom prst="ellipse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2139696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057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Start a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310128"/>
            <a:ext cx="2240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Customer sends an enquiry or contacts the provider.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2140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6F4CB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985248" y="1965960"/>
            <a:ext cx="658368" cy="658368"/>
          </a:xfrm>
          <a:prstGeom prst="ellipse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139696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057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Build reputation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310128"/>
            <a:ext cx="2240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312D3E"/>
                </a:solidFill>
                <a:latin typeface="Aptos"/>
              </a:defRPr>
            </a:pPr>
            <a:r>
              <a:t>Provider can add portfolio examples and request feedback.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074920"/>
            <a:ext cx="10149840" cy="621792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248656"/>
            <a:ext cx="9692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6F4CBF"/>
                </a:solidFill>
                <a:latin typeface="Aptos"/>
              </a:defRPr>
            </a:pPr>
            <a:r>
              <a:t>MVP principle: begin with profiles and enquiries; add advanced features only after testing.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04 •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Who is it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Design for two main groups, with a clear experience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05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91440" cy="292608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84248"/>
            <a:ext cx="4828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C1836"/>
                </a:solidFill>
                <a:latin typeface="Aptos"/>
              </a:defRPr>
            </a:pPr>
            <a:r>
              <a:t>WOMEN SERVICE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95728"/>
            <a:ext cx="4828032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Home-based entrepreneurs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Artisans and makers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Tutors and trainers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Bakers and cooks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Tailors, artists, and freelancers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91440" cy="292608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84248"/>
            <a:ext cx="4828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C1836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395728"/>
            <a:ext cx="4828032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Families seeking local services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Students and parents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People buying handmade products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Small businesses needing creative support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312D3E"/>
                </a:solidFill>
                <a:latin typeface="Aptos"/>
              </a:defRPr>
            </a:pPr>
            <a:r>
              <a:t>• Community members who want to support women-led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49240"/>
            <a:ext cx="2011680" cy="310896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367527"/>
            <a:ext cx="188366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PRIMARY DEVICE: 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5349240"/>
            <a:ext cx="3108960" cy="310896"/>
          </a:xfrm>
          <a:prstGeom prst="round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7" y="5367527"/>
            <a:ext cx="298094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PRIMARY ACTION: SEND AN ENQUIRY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05 • WEBSITE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The website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focused structure keeps the first version manageable.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06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737360"/>
            <a:ext cx="2560320" cy="594360"/>
          </a:xfrm>
          <a:prstGeom prst="roundRect">
            <a:avLst/>
          </a:prstGeom>
          <a:solidFill>
            <a:srgbClr val="1C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90195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HERHUNAR HOME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54480" y="2331720"/>
            <a:ext cx="4526280" cy="411480"/>
          </a:xfrm>
          <a:prstGeom prst="line">
            <a:avLst/>
          </a:prstGeom>
          <a:ln>
            <a:solidFill>
              <a:srgbClr val="E2D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743200"/>
            <a:ext cx="1828800" cy="566928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C1836"/>
                </a:solidFill>
                <a:latin typeface="Aptos"/>
              </a:defRPr>
            </a:pPr>
            <a:r>
              <a:t>Explore Skills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794760" y="2331720"/>
            <a:ext cx="2286000" cy="411480"/>
          </a:xfrm>
          <a:prstGeom prst="line">
            <a:avLst/>
          </a:prstGeom>
          <a:ln>
            <a:solidFill>
              <a:srgbClr val="E2D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743200"/>
            <a:ext cx="1828800" cy="566928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2898648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C1836"/>
                </a:solidFill>
                <a:latin typeface="Aptos"/>
              </a:defRPr>
            </a:pPr>
            <a:r>
              <a:t>Join as a Woman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35040" y="2331720"/>
            <a:ext cx="45720" cy="411480"/>
          </a:xfrm>
          <a:prstGeom prst="line">
            <a:avLst/>
          </a:prstGeom>
          <a:ln>
            <a:solidFill>
              <a:srgbClr val="E2D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2743200"/>
            <a:ext cx="1828800" cy="566928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3" y="2898648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C1836"/>
                </a:solidFill>
                <a:latin typeface="Aptos"/>
              </a:defRPr>
            </a:pPr>
            <a:r>
              <a:t>How It Works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331720"/>
            <a:ext cx="2194560" cy="411480"/>
          </a:xfrm>
          <a:prstGeom prst="line">
            <a:avLst/>
          </a:prstGeom>
          <a:ln>
            <a:solidFill>
              <a:srgbClr val="E2D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2743200"/>
            <a:ext cx="1828800" cy="566928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5784" y="2898648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C1836"/>
                </a:solidFill>
                <a:latin typeface="Aptos"/>
              </a:defRPr>
            </a:pPr>
            <a:r>
              <a:t>About Us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331720"/>
            <a:ext cx="4434840" cy="411480"/>
          </a:xfrm>
          <a:prstGeom prst="line">
            <a:avLst/>
          </a:prstGeom>
          <a:ln>
            <a:solidFill>
              <a:srgbClr val="E2D9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2743200"/>
            <a:ext cx="1828800" cy="566928"/>
          </a:xfrm>
          <a:prstGeom prst="roundRect">
            <a:avLst/>
          </a:prstGeom>
          <a:solidFill>
            <a:srgbClr val="73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898648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C1836"/>
                </a:solidFill>
                <a:latin typeface="Aptos"/>
              </a:defRPr>
            </a:pPr>
            <a:r>
              <a:t>Contact &amp;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2011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F4CBF"/>
                </a:solidFill>
                <a:latin typeface="Aptos"/>
              </a:defRPr>
            </a:pPr>
            <a:r>
              <a:t>Category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05072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716B80"/>
                </a:solidFill>
                <a:latin typeface="Aptos"/>
              </a:defRPr>
            </a:pPr>
            <a:r>
              <a:t>Browse services by skill type.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1" y="3657600"/>
            <a:ext cx="2011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F4CBF"/>
                </a:solidFill>
                <a:latin typeface="Aptos"/>
              </a:defRPr>
            </a:pPr>
            <a:r>
              <a:t>Profile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1" y="4005072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716B80"/>
                </a:solidFill>
                <a:latin typeface="Aptos"/>
              </a:defRPr>
            </a:pPr>
            <a:r>
              <a:t>Submit skills and work samples.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3657600"/>
            <a:ext cx="2011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F4CBF"/>
                </a:solidFill>
                <a:latin typeface="Aptos"/>
              </a:defRPr>
            </a:pPr>
            <a:r>
              <a:t>Process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4005072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716B80"/>
                </a:solidFill>
                <a:latin typeface="Aptos"/>
              </a:defRPr>
            </a:pPr>
            <a:r>
              <a:t>Explain the customer journey.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5" y="3657600"/>
            <a:ext cx="2011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F4CBF"/>
                </a:solidFill>
                <a:latin typeface="Aptos"/>
              </a:defRPr>
            </a:pPr>
            <a:r>
              <a:t>Mission &amp;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005072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716B80"/>
                </a:solidFill>
                <a:latin typeface="Aptos"/>
              </a:defRPr>
            </a:pPr>
            <a:r>
              <a:t>Why the platform exists.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657600"/>
            <a:ext cx="2011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F4CBF"/>
                </a:solidFill>
                <a:latin typeface="Aptos"/>
              </a:defRPr>
            </a:pPr>
            <a:r>
              <a:t>FAQs &amp;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4005072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716B80"/>
                </a:solidFill>
                <a:latin typeface="Aptos"/>
              </a:defRPr>
            </a:pPr>
            <a:r>
              <a:t>Support, concerns, and feedback.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Future pages: dashboard • booking requests • reviews • learning resources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 1 — Home / 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The homepage should explain the value within the first few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07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65379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6537960" cy="329184"/>
          </a:xfrm>
          <a:prstGeom prst="roundRect">
            <a:avLst/>
          </a:prstGeom>
          <a:solidFill>
            <a:srgbClr val="1C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801368"/>
            <a:ext cx="82296" cy="82296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801368"/>
            <a:ext cx="82296" cy="82296"/>
          </a:xfrm>
          <a:prstGeom prst="ellipse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801368"/>
            <a:ext cx="82296" cy="82296"/>
          </a:xfrm>
          <a:prstGeom prst="ellipse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755648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herhunar.org  •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6F4CBF"/>
                </a:solidFill>
                <a:latin typeface="Aptos"/>
              </a:defRPr>
            </a:pPr>
            <a:r>
              <a:t>HerHunar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F4CBF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14600"/>
            <a:ext cx="6263640" cy="13716"/>
          </a:xfrm>
          <a:prstGeom prst="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2679192"/>
            <a:ext cx="3465118" cy="1650492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807208"/>
            <a:ext cx="3138220" cy="99898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C1836"/>
                </a:solidFill>
                <a:latin typeface="Aptos"/>
              </a:defRPr>
            </a:pPr>
            <a:r>
              <a:t>Her Skills.</a:t>
            </a:r>
          </a:p>
          <a:p>
            <a:pPr algn="l">
              <a:spcAft>
                <a:spcPts val="500"/>
              </a:spcAft>
              <a:defRPr sz="1700" b="1" i="0">
                <a:solidFill>
                  <a:srgbClr val="1C1836"/>
                </a:solidFill>
                <a:latin typeface="Aptos"/>
              </a:defRPr>
            </a:pPr>
            <a:r>
              <a:t>Her Income.</a:t>
            </a:r>
          </a:p>
          <a:p>
            <a:pPr algn="l">
              <a:spcAft>
                <a:spcPts val="500"/>
              </a:spcAft>
              <a:defRPr sz="1700" b="1" i="0">
                <a:solidFill>
                  <a:srgbClr val="1C1836"/>
                </a:solidFill>
                <a:latin typeface="Aptos"/>
              </a:defRPr>
            </a:pPr>
            <a:r>
              <a:t>Her Independence.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410712"/>
            <a:ext cx="294208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Discover talent. Support women-led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" y="3749039"/>
            <a:ext cx="1115568" cy="310896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767327"/>
            <a:ext cx="9875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Explore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9335" y="2734056"/>
            <a:ext cx="621792" cy="64008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6767" y="2980944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700" b="1" i="0">
                <a:solidFill>
                  <a:srgbClr val="1C1836"/>
                </a:solidFill>
                <a:latin typeface="Aptos"/>
              </a:defRPr>
            </a:pPr>
            <a:r>
              <a:t>CRAFT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52567" y="2734056"/>
            <a:ext cx="621792" cy="640080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9999" y="2980944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700" b="1" i="0">
                <a:solidFill>
                  <a:srgbClr val="1C1836"/>
                </a:solidFill>
                <a:latin typeface="Aptos"/>
              </a:defRPr>
            </a:pPr>
            <a:r>
              <a:t>BAKING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39335" y="3557016"/>
            <a:ext cx="1243584" cy="64008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6767" y="3803904"/>
            <a:ext cx="1188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700" b="1" i="0">
                <a:solidFill>
                  <a:srgbClr val="1C1836"/>
                </a:solidFill>
                <a:latin typeface="Aptos"/>
              </a:defRPr>
            </a:pPr>
            <a:r>
              <a:t>TUTORING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78308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35240" y="1783080"/>
            <a:ext cx="91440" cy="105156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54696" y="193852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1. Clear headline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4696" y="235000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Tell visitors what HerHunar does.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297180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5240" y="2971800"/>
            <a:ext cx="91440" cy="105156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54696" y="312724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2. Two main buttons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4696" y="353872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“Explore Skills” and “Join as a Woman”.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416052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5240" y="4160520"/>
            <a:ext cx="91440" cy="105156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54696" y="431596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3. Trust &amp;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4696" y="472744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Show categories, simple steps, and safety guidance.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 2 — Explore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Make it easy for customers to find a relevant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08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65379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6537960" cy="329184"/>
          </a:xfrm>
          <a:prstGeom prst="roundRect">
            <a:avLst/>
          </a:prstGeom>
          <a:solidFill>
            <a:srgbClr val="1C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801368"/>
            <a:ext cx="82296" cy="82296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801368"/>
            <a:ext cx="82296" cy="82296"/>
          </a:xfrm>
          <a:prstGeom prst="ellipse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801368"/>
            <a:ext cx="82296" cy="82296"/>
          </a:xfrm>
          <a:prstGeom prst="ellipse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755648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herhunar.org  •  Explore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6F4CBF"/>
                </a:solidFill>
                <a:latin typeface="Aptos"/>
              </a:defRPr>
            </a:pPr>
            <a:r>
              <a:t>HerHunar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F4CBF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212848"/>
            <a:ext cx="6583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16B80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14600"/>
            <a:ext cx="6263640" cy="13716"/>
          </a:xfrm>
          <a:prstGeom prst="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2770632"/>
            <a:ext cx="1935480" cy="301752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2880360"/>
            <a:ext cx="1789176" cy="5486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20440"/>
            <a:ext cx="1789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Baking &amp; Food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31335"/>
            <a:ext cx="17891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00" b="0" i="0">
                <a:solidFill>
                  <a:srgbClr val="716B80"/>
                </a:solidFill>
                <a:latin typeface="Aptos"/>
              </a:defRPr>
            </a:pPr>
            <a:r>
              <a:t>Profile • Services • 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3408" y="2770632"/>
            <a:ext cx="1935480" cy="301752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56560" y="2880360"/>
            <a:ext cx="1789176" cy="5486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6560" y="3520440"/>
            <a:ext cx="1789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Stitching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6560" y="3831335"/>
            <a:ext cx="17891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00" b="0" i="0">
                <a:solidFill>
                  <a:srgbClr val="716B80"/>
                </a:solidFill>
                <a:latin typeface="Aptos"/>
              </a:defRPr>
            </a:pPr>
            <a:r>
              <a:t>Profile • Services • Contact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9848" y="2770632"/>
            <a:ext cx="1935480" cy="301752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53000" y="2880360"/>
            <a:ext cx="1789176" cy="548640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3000" y="3520440"/>
            <a:ext cx="17891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Art &amp; Crafts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00" y="3831335"/>
            <a:ext cx="17891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700" b="0" i="0">
                <a:solidFill>
                  <a:srgbClr val="716B80"/>
                </a:solidFill>
                <a:latin typeface="Aptos"/>
              </a:defRPr>
            </a:pPr>
            <a:r>
              <a:t>Profile • Services • Contact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178308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40" y="1783080"/>
            <a:ext cx="91440" cy="105156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4696" y="193852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4696" y="235000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Category, city/area, and service type.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97180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2971800"/>
            <a:ext cx="91440" cy="105156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54696" y="312724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Profile cards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4696" y="353872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Name or display name, skill, sample work, and enquiry action.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4160520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4160520"/>
            <a:ext cx="91440" cy="105156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54696" y="4315968"/>
            <a:ext cx="336499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Fair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4696" y="4727448"/>
            <a:ext cx="3364991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Avoid pay-to-win ranking in the early version.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 3 — A woman’s skill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Each profile should be clear, respectful, and easy to contact.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09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5836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57400"/>
            <a:ext cx="1005840" cy="1005840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914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SAMPLE</a:t>
            </a:r>
          </a:p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C1836"/>
                </a:solidFill>
                <a:latin typeface="Aptos"/>
              </a:defRPr>
            </a:pPr>
            <a:r>
              <a:t>Asha • Handmade jewellery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87168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16B80"/>
                </a:solidFill>
                <a:latin typeface="Aptos"/>
              </a:defRPr>
            </a:pPr>
            <a:r>
              <a:t>Skill: Jewellery making  |  Service area: Local / online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926080"/>
            <a:ext cx="1051560" cy="310896"/>
          </a:xfrm>
          <a:prstGeom prst="round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7" y="2944368"/>
            <a:ext cx="92354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6F4CBF"/>
                </a:solidFill>
                <a:latin typeface="Aptos"/>
              </a:defRPr>
            </a:pPr>
            <a:r>
              <a:t>Handmade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926080"/>
            <a:ext cx="1325880" cy="310896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944368"/>
            <a:ext cx="119786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Custom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6F4CBF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86784"/>
            <a:ext cx="5669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I create handmade accessories and accept custom requests. View examples and send an enquiry to discuss your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074920"/>
            <a:ext cx="1600200" cy="310896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5093207"/>
            <a:ext cx="1472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Send an enquiry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874519"/>
            <a:ext cx="35661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26679" y="1874519"/>
            <a:ext cx="91440" cy="114300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2029967"/>
            <a:ext cx="3182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Profile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2441448"/>
            <a:ext cx="3182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Display name, skills, location area, description, portfolio, contact preference.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246120"/>
            <a:ext cx="35661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26679" y="3246120"/>
            <a:ext cx="91440" cy="114300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6136" y="3401568"/>
            <a:ext cx="3182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136" y="3813048"/>
            <a:ext cx="3182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Never show a home address publicly. Share contact details only with consent.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4617720"/>
            <a:ext cx="35661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26679" y="4617720"/>
            <a:ext cx="91440" cy="114300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6136" y="4773168"/>
            <a:ext cx="3182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Sample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46136" y="5184648"/>
            <a:ext cx="3182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Use clearly labelled fictional profiles in the college demo.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 4 — Join as a woman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short form reduces drop-off and makes onboarding approachable.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10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4864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Display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975104"/>
            <a:ext cx="306324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057400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716B80"/>
                </a:solidFill>
                <a:latin typeface="Aptos"/>
              </a:defRPr>
            </a:pPr>
            <a:r>
              <a:t>e.g., Asha Creates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06624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Main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88336"/>
            <a:ext cx="306324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77063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716B80"/>
                </a:solidFill>
                <a:latin typeface="Aptos"/>
              </a:defRPr>
            </a:pPr>
            <a:r>
              <a:t>Choose a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Service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401568"/>
            <a:ext cx="306324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483864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716B80"/>
                </a:solidFill>
                <a:latin typeface="Aptos"/>
              </a:defRPr>
            </a:pPr>
            <a:r>
              <a:t>City / area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33087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Short introduction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114800"/>
            <a:ext cx="306324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197096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716B80"/>
                </a:solidFill>
                <a:latin typeface="Aptos"/>
              </a:defRPr>
            </a:pPr>
            <a:r>
              <a:t>What do you offer?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C1836"/>
                </a:solidFill>
                <a:latin typeface="Aptos"/>
              </a:defRPr>
            </a:pPr>
            <a:r>
              <a:t>Contact preference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828032"/>
            <a:ext cx="3063240" cy="384048"/>
          </a:xfrm>
          <a:prstGeom prst="round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91032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716B80"/>
                </a:solidFill>
                <a:latin typeface="Aptos"/>
              </a:defRPr>
            </a:pPr>
            <a:r>
              <a:t>Email / platform enquiry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623560"/>
            <a:ext cx="1600200" cy="310896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5641848"/>
            <a:ext cx="1472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Submit for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4297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03720" y="1874519"/>
            <a:ext cx="91440" cy="105156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2029967"/>
            <a:ext cx="3913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Step 1 • 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2441448"/>
            <a:ext cx="391363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The woman provides only necessary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108960"/>
            <a:ext cx="4297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03720" y="3108960"/>
            <a:ext cx="91440" cy="105156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3264408"/>
            <a:ext cx="3913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Step 2 •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6" y="3675887"/>
            <a:ext cx="391363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Admin checks for spam, misleading claims, or unsafe content.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343400"/>
            <a:ext cx="4297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03720" y="4343400"/>
            <a:ext cx="91440" cy="105156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3176" y="4498848"/>
            <a:ext cx="3913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Step 3 • 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910328"/>
            <a:ext cx="391363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Profile goes live after approval and consent.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 5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The process page sets expectations for both sides.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11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1440" cy="23774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FOR WOMEN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95728"/>
            <a:ext cx="299923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1. Create profile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2. Add service details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3. Review enquiries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4. Agree on price and delivery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91440" cy="237744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FOR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395728"/>
            <a:ext cx="299923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1. Search by skill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2. Compare profiles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3. Ask questions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4. Confirm terms before ordering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91440" cy="23774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FOR THE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95728"/>
            <a:ext cx="299923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1. Keep listings organised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2. Review reports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3. Share safety tips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312D3E"/>
                </a:solidFill>
                <a:latin typeface="Aptos"/>
              </a:defRPr>
            </a:pPr>
            <a:r>
              <a:t>4. Improve from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Important: the first version is a discovery and enquiry platform—not a payment processor or guarantee of service quality.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06 • PAGE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Pages 6 &amp; 7 — About, contact, and FAQs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Trust is built through clarity, honest expectations, and a visible way to ask for help.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12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91440" cy="246888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ABOUT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95728"/>
            <a:ext cx="304495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Mission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Why women’s skills deserve visibility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What the platform does—and does not 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91440" cy="246888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CONTACT &amp;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General enquiry form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Report a listing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Request profile edits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Response-time expectation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28800"/>
            <a:ext cx="34290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5864" y="1828800"/>
            <a:ext cx="91440" cy="246888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FAQS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304495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Is it free?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How are profiles reviewed?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How do I contact a provider?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How can I report a concern?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D05F6E"/>
                </a:solidFill>
                <a:latin typeface="Aptos"/>
              </a:defRPr>
            </a:pPr>
            <a:r>
              <a:t>Copywriting rule: use simple language; do not promise guaranteed income, verified safety, or guaranteed customers.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07 •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How the website will be managed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small admin workflow keeps listings useful and the platform safer.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13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67665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C1836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1737360" cy="86868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633472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Pending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07792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1C183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514600"/>
            <a:ext cx="1737360" cy="86868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633472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Published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07792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1C183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514600"/>
            <a:ext cx="1737360" cy="86868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2633472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Open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907792"/>
            <a:ext cx="1508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1C18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033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6F4CBF"/>
                </a:solidFill>
                <a:latin typeface="Aptos"/>
              </a:defRPr>
            </a:pPr>
            <a:r>
              <a:t>Review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69080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Profile: sample maker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032504"/>
            <a:ext cx="1234440" cy="310896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50791"/>
            <a:ext cx="11064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C1836"/>
                </a:solidFill>
                <a:latin typeface="Aptos"/>
              </a:defRPr>
            </a:pPr>
            <a:r>
              <a:t>Needs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72000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Profile: sample tutor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535424"/>
            <a:ext cx="1234440" cy="310896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553712"/>
            <a:ext cx="11064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C1836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074920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Report: suspicious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5038344"/>
            <a:ext cx="1234440" cy="310896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5056632"/>
            <a:ext cx="11064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C1836"/>
                </a:solidFill>
                <a:latin typeface="Aptos"/>
              </a:defRPr>
            </a:pPr>
            <a:r>
              <a:t>Escalate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1828800"/>
            <a:ext cx="3474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9560" y="1828800"/>
            <a:ext cx="91440" cy="114300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198424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Daily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2395728"/>
            <a:ext cx="309067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Check new submissions and reports.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200400"/>
            <a:ext cx="3474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09560" y="3200400"/>
            <a:ext cx="91440" cy="114300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9016" y="335584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Weekly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3767328"/>
            <a:ext cx="309067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Review categories, broken links, and feedback.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4572000"/>
            <a:ext cx="3474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09560" y="4572000"/>
            <a:ext cx="91440" cy="114300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9016" y="4727448"/>
            <a:ext cx="3090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Monthly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5138928"/>
            <a:ext cx="309067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Track impact metrics and improve the experience.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07 •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Safety, privacy,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A women-focused platform must put user control and responsible handling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14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91440" cy="123444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385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Consent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00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Publish a profile only after the person agrees.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83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783080"/>
            <a:ext cx="91440" cy="12344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9385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Minimal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3500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Collect only what the platform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83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91440" cy="12344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19385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No public home addresses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3500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Use city or service area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91440" cy="1234440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5387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Report &amp; remove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9502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Offer a clear way to report scams or harmful listings.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3832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3383280"/>
            <a:ext cx="91440" cy="1234440"/>
          </a:xfrm>
          <a:prstGeom prst="roundRect">
            <a:avLst/>
          </a:prstGeom>
          <a:solidFill>
            <a:srgbClr val="73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5736" y="35387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Honest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39502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Say exactly what has—and has not—been checked.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38328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21040" y="3383280"/>
            <a:ext cx="91440" cy="1234440"/>
          </a:xfrm>
          <a:prstGeom prst="roundRect">
            <a:avLst/>
          </a:prstGeom>
          <a:solidFill>
            <a:srgbClr val="D0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6" y="353872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Respectful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3950208"/>
            <a:ext cx="3044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312D3E"/>
                </a:solidFill>
                <a:latin typeface="Aptos"/>
              </a:defRPr>
            </a:pPr>
            <a:r>
              <a:t>No harassment, discrimination, or misleading income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C1836"/>
                </a:solidFill>
                <a:latin typeface="Aptos"/>
              </a:defRPr>
            </a:pPr>
            <a:r>
              <a:t>For a real launch: publish a privacy notice and terms, set an admin access policy, and seek appropriate legal guidance.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08 •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How it could become sustainable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Keep the student prototype free; test demand before adding monetisation.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15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1440" cy="214884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PHASE 1 •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95728"/>
            <a:ext cx="299923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Build the prototype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Invite a small pilot group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Collect feedback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No payment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91440" cy="214884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PHASE 2 •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395728"/>
            <a:ext cx="299923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Featured listings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Clearly labelled promotions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Partner support or sponsorship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3832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91440" cy="214884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PHASE 3 •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95728"/>
            <a:ext cx="299923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Booking commission, if useful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Business tools for providers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Training / resource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C1836"/>
                </a:solidFill>
                <a:latin typeface="Aptos"/>
              </a:defRPr>
            </a:pPr>
            <a:r>
              <a:t>Revenue is a hypothesis—not a guarantee. Validate willingness to pay and protect fair access before charging.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08 •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How to attract the first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Start local, learn quickly, and build trust through community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16  /  18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438912" cy="438912"/>
          </a:xfrm>
          <a:prstGeom prst="ellipse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1C18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Campus &amp;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7132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Share the prototype with student groups and local community organisations.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438912" cy="438912"/>
          </a:xfrm>
          <a:prstGeom prst="ellipse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9504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1C18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432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Women-led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43200"/>
            <a:ext cx="7132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Invite artisans, home bakers, tutors, and small business owners.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49039"/>
            <a:ext cx="438912" cy="438912"/>
          </a:xfrm>
          <a:prstGeom prst="ellipse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1C18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Social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03320"/>
            <a:ext cx="7132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Post short skill spotlights with permission and clear calls to action.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709160"/>
            <a:ext cx="438912" cy="438912"/>
          </a:xfrm>
          <a:prstGeom prst="ellipse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1C18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6344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Referral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663440"/>
            <a:ext cx="71323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Let providers invite another woman; reward with visibility, not money at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15000"/>
            <a:ext cx="10332720" cy="438912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815584"/>
            <a:ext cx="99669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F4CBF"/>
                </a:solidFill>
                <a:latin typeface="Aptos"/>
              </a:defRPr>
            </a:pPr>
            <a:r>
              <a:t>Pilot goal: learn whether people can find a relevant provider and successfully send an enquiry.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6F4CBF"/>
                </a:solidFill>
                <a:latin typeface="Aptos"/>
              </a:defRPr>
            </a:pPr>
            <a:r>
              <a:t>09 • 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1836"/>
                </a:solidFill>
                <a:latin typeface="Aptos"/>
              </a:defRPr>
            </a:pPr>
            <a:r>
              <a:t>Build a no-cost project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16B80"/>
                </a:solidFill>
                <a:latin typeface="Aptos"/>
              </a:defRPr>
            </a:pPr>
            <a:r>
              <a:t>The college demo can be built without collecting payments or buying a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16B80"/>
                </a:solidFill>
                <a:latin typeface="Aptos"/>
              </a:defRPr>
            </a:pPr>
            <a:r>
              <a:t>17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91440" cy="2194560"/>
          </a:xfrm>
          <a:prstGeom prst="roundRect">
            <a:avLst/>
          </a:prstGeom>
          <a:solidFill>
            <a:srgbClr val="6F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OPTION A • NO-CODE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95728"/>
            <a:ext cx="3044952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Google Sites or a similar free site builder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Best for a fast visual demo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Use forms for sample enquiries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91440" cy="2194560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OPTION B • STATIC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GitHub Pages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HTML/CSS prototype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Good for custom page layouts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28800"/>
            <a:ext cx="34290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5864" y="1828800"/>
            <a:ext cx="91440" cy="2194560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0449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DATA FOR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3044952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Use fictional profiles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Avoid real private data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312D3E"/>
                </a:solidFill>
                <a:latin typeface="Aptos"/>
              </a:defRPr>
            </a:pPr>
            <a:r>
              <a:t>Keep enquiry forms non-sensitive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006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1836"/>
                </a:solidFill>
                <a:latin typeface="Aptos"/>
              </a:defRPr>
            </a:pPr>
            <a:r>
              <a:t>Prototype features: responsive layout • category browsing • sample profiles • enquiry form • FAQ • report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 i="1">
                <a:solidFill>
                  <a:srgbClr val="716B80"/>
                </a:solidFill>
                <a:latin typeface="Aptos"/>
              </a:defRPr>
            </a:pPr>
            <a:r>
              <a:t>Note: free-plan limits and features may change; check the chosen tool before publishing.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4AECA"/>
                </a:solidFill>
                <a:latin typeface="Aptos"/>
              </a:defRPr>
            </a:pPr>
            <a:r>
              <a:t>10 •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A realistic 4-week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E2D9FA"/>
                </a:solidFill>
                <a:latin typeface="Aptos"/>
              </a:defRPr>
            </a:pPr>
            <a:r>
              <a:t>Build a clear prototype first; test it with a small group before imagining a full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E2D9FA"/>
                </a:solidFill>
                <a:latin typeface="Aptos"/>
              </a:defRPr>
            </a:pPr>
            <a:r>
              <a:t>18  /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514600" cy="2057400"/>
          </a:xfrm>
          <a:prstGeom prst="roundRect">
            <a:avLst/>
          </a:prstGeom>
          <a:solidFill>
            <a:srgbClr val="2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148840"/>
            <a:ext cx="1005840" cy="310896"/>
          </a:xfrm>
          <a:prstGeom prst="roundRect">
            <a:avLst/>
          </a:prstGeom>
          <a:solidFill>
            <a:srgbClr val="F4A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167128"/>
            <a:ext cx="8778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Research &amp;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82112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2D9FA"/>
                </a:solidFill>
                <a:latin typeface="Aptos"/>
              </a:defRPr>
            </a:pPr>
            <a:r>
              <a:t>Define users, categories, and page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514600" cy="2057400"/>
          </a:xfrm>
          <a:prstGeom prst="roundRect">
            <a:avLst/>
          </a:prstGeom>
          <a:solidFill>
            <a:srgbClr val="2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7328" y="2148840"/>
            <a:ext cx="1005840" cy="310896"/>
          </a:xfrm>
          <a:prstGeom prst="roundRect">
            <a:avLst/>
          </a:prstGeom>
          <a:solidFill>
            <a:srgbClr val="F6C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6" y="2167128"/>
            <a:ext cx="8778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69748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Design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182112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2D9FA"/>
                </a:solidFill>
                <a:latin typeface="Aptos"/>
              </a:defRPr>
            </a:pPr>
            <a:r>
              <a:t>Create homepage, listings, profile, and join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920240"/>
            <a:ext cx="2514600" cy="2057400"/>
          </a:xfrm>
          <a:prstGeom prst="roundRect">
            <a:avLst/>
          </a:prstGeom>
          <a:solidFill>
            <a:srgbClr val="2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47688" y="2148840"/>
            <a:ext cx="1005840" cy="310896"/>
          </a:xfrm>
          <a:prstGeom prst="roundRect">
            <a:avLst/>
          </a:prstGeom>
          <a:solidFill>
            <a:srgbClr val="B7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2167128"/>
            <a:ext cx="8778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69748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Build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182112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2D9FA"/>
                </a:solidFill>
                <a:latin typeface="Aptos"/>
              </a:defRPr>
            </a:pPr>
            <a:r>
              <a:t>Connect navigation, sample data, and enquiry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920240"/>
            <a:ext cx="2514600" cy="2057400"/>
          </a:xfrm>
          <a:prstGeom prst="roundRect">
            <a:avLst/>
          </a:prstGeom>
          <a:solidFill>
            <a:srgbClr val="2F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2148840"/>
            <a:ext cx="1005840" cy="310896"/>
          </a:xfrm>
          <a:prstGeom prst="roundRect">
            <a:avLst/>
          </a:prstGeom>
          <a:solidFill>
            <a:srgbClr val="E2D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92056" y="2167128"/>
            <a:ext cx="8778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1C1836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697480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Test &amp; 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182112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2D9FA"/>
                </a:solidFill>
                <a:latin typeface="Aptos"/>
              </a:defRPr>
            </a:pPr>
            <a:r>
              <a:t>Collect feedback, fix issues, prepare demo.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38404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HerHunar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8138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4AECA"/>
                </a:solidFill>
                <a:latin typeface="Aptos"/>
              </a:defRPr>
            </a:pPr>
            <a:r>
              <a:t>A small digital idea with the potential to create meaningful opportunities.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080760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Thank you  •  Questions &amp; feedback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57052"/>
                </a:solidFill>
                <a:latin typeface="Aptos"/>
              </a:rPr>
              <a:t>11 • PROFITABILITY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34033"/>
                </a:solidFill>
                <a:latin typeface="Aptos Display"/>
              </a:rPr>
              <a:t>How HerHunar can earn sustainably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86F67"/>
                </a:solidFill>
                <a:latin typeface="Aptos"/>
              </a:rPr>
              <a:t>A diversified model can support the platform while keeping basic access affordable for women.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01  Featured profiles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Optional paid visibility for providers who want extra promotion. Clearly label sponsored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02  Booking commission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A small fee on confirmed bookings only, introduced after demand and fair pricing are tested.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0116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03  Business tools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Affordable add-ons such as portfolio templates, enquiry insights, or appointment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11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04  Training partnerships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Partner with NGOs, colleges, and skill programmes for workshops or sponsored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611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05  Local sponsorships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Responsible sponsorships from relevant businesses, CSR initiatives, or community partners.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611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06  Premium services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Optional help with photos, profile writing, catalogues, or digital storefront setup.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4033"/>
                </a:solidFill>
                <a:latin typeface="Aptos"/>
              </a:rPr>
              <a:t>Profit formula: Revenue − operating costs = surplus/profit. Track hosting, support, moderation, marketing, and payment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86F67"/>
                </a:solidFill>
                <a:latin typeface="Aptos"/>
              </a:rPr>
              <a:t>Start free, test willingness to pay, and never promise guaranteed income or customers.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686F67"/>
                </a:solidFill>
                <a:latin typeface="Aptos"/>
              </a:rPr>
              <a:t>HERHUNAR  •  BBA STARTUP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801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686F67"/>
                </a:solidFill>
                <a:latin typeface="Apto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57052"/>
                </a:solidFill>
                <a:latin typeface="Aptos"/>
              </a:rPr>
              <a:t>12 • INCLUSION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34033"/>
                </a:solidFill>
                <a:latin typeface="Aptos Display"/>
              </a:rPr>
              <a:t>Every language. More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86F67"/>
                </a:solidFill>
                <a:latin typeface="Aptos"/>
              </a:rPr>
              <a:t>Multilingual access can help women and customers use HerHunar in the language they know best.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01  Language selector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A visible menu for English, Hindi, and regional languages based on user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02  Local-language profiles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Let providers write bios and service details in their preferred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011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03  Translation support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Use reviewed translations and clear labels; let users switch languages anytime.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493008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04  Low-data mobile design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Fast pages, readable text, and simple forms for slower connections and basic 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493008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457052"/>
                </a:solidFill>
                <a:latin typeface="Aptos Display"/>
              </a:rPr>
              <a:t>05  Accessibility &amp; trust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Readable contrast, keyboard support, consent controls, reporting, and privacy-first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493008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 bIns="73152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29D4B"/>
                </a:solidFill>
                <a:latin typeface="Aptos Display"/>
              </a:rPr>
              <a:t>06  Wider market reach</a:t>
            </a:r>
          </a:p>
          <a:p>
            <a:pPr>
              <a:spcAft>
                <a:spcPts val="0"/>
              </a:spcAft>
              <a:defRPr sz="1200">
                <a:solidFill>
                  <a:srgbClr val="2E3630"/>
                </a:solidFill>
                <a:latin typeface="Aptos"/>
              </a:defRPr>
            </a:pPr>
            <a:r>
              <a:t>Regional search terms and community partnerships can help more users discover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34033"/>
                </a:solidFill>
                <a:latin typeface="Aptos"/>
              </a:rPr>
              <a:t>Rollout plan: launch with English + Hindi, then add regional languages in phases after user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87568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86F67"/>
                </a:solidFill>
                <a:latin typeface="Aptos"/>
              </a:rPr>
              <a:t>Goal: remove language barriers—not claim every language is already supported. Validate translations before launch.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686F67"/>
                </a:solidFill>
                <a:latin typeface="Aptos"/>
              </a:rPr>
              <a:t>HERHUNAR  •  BBA STARTUP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801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686F67"/>
                </a:solidFill>
                <a:latin typeface="Apto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